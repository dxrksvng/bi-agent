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F5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F5E"/>
                </a:solidFill>
                <a:latin typeface="Arial"/>
              </a:rPr>
              <a:t>Revenue by Product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A1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1F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4DA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EA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Product A</c:v>
                  </c:pt>
                  <c:pt idx="1">
                    <c:v>Product B</c:v>
                  </c:pt>
                  <c:pt idx="2">
                    <c:v>Product 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38000</c:v>
                </c:pt>
                <c:pt idx="1">
                  <c:v>17700</c:v>
                </c:pt>
                <c:pt idx="2">
                  <c:v>11140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F5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1F5E"/>
                </a:solidFill>
                <a:latin typeface="Arial"/>
              </a:rPr>
              <a:t>revenue Share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1F5E"/>
              </a:solidFill>
              <a:effectLst/>
            </c:spPr>
          </c:dPt>
          <c:dPt>
            <c:idx val="1"/>
            <c:bubble3D val="0"/>
            <c:spPr>
              <a:solidFill>
                <a:srgbClr val="00AEAB"/>
              </a:solidFill>
              <a:effectLst/>
            </c:spPr>
          </c:dPt>
          <c:dPt>
            <c:idx val="2"/>
            <c:bubble3D val="0"/>
            <c:spPr>
              <a:solidFill>
                <a:srgbClr val="2E4DA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Product A</c:v>
                </c:pt>
                <c:pt idx="1">
                  <c:v>Product B</c:v>
                </c:pt>
                <c:pt idx="2">
                  <c:v>Product C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38000</c:v>
                </c:pt>
                <c:pt idx="1">
                  <c:v>17700</c:v>
                </c:pt>
                <c:pt idx="2">
                  <c:v>11140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F5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F5E"/>
                </a:solidFill>
                <a:latin typeface="Arial"/>
              </a:rPr>
              <a:t>Revenue Trend by Date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A1F5E"/>
            </a:solidFill>
            <a:ln w="31750" cap="flat">
              <a:solidFill>
                <a:srgbClr val="1A1F5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F5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1F5E"/>
              </a:solidFill>
              <a:ln w="9525" cap="flat">
                <a:solidFill>
                  <a:srgbClr val="1A1F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 1</c:v>
                  </c:pt>
                  <c:pt idx="1">
                    <c:v>Jan 2</c:v>
                  </c:pt>
                  <c:pt idx="2">
                    <c:v>Jan 3</c:v>
                  </c:pt>
                  <c:pt idx="3">
                    <c:v>Jan 4</c:v>
                  </c:pt>
                  <c:pt idx="4">
                    <c:v>Jan 5</c:v>
                  </c:pt>
                  <c:pt idx="5">
                    <c:v>Jan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12000</c:v>
                </c:pt>
                <c:pt idx="1">
                  <c:v>8500</c:v>
                </c:pt>
                <c:pt idx="2">
                  <c:v>15000</c:v>
                </c:pt>
                <c:pt idx="3">
                  <c:v>11140</c:v>
                </c:pt>
                <c:pt idx="4">
                  <c:v>9200</c:v>
                </c:pt>
                <c:pt idx="5">
                  <c:v>11000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F5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A1F5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1719072"/>
          </a:xfrm>
          <a:prstGeom prst="rect">
            <a:avLst/>
          </a:prstGeom>
          <a:solidFill>
            <a:srgbClr val="00AEAB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1719072"/>
            <a:ext cx="3474720" cy="1719072"/>
          </a:xfrm>
          <a:prstGeom prst="rect">
            <a:avLst/>
          </a:prstGeom>
          <a:solidFill>
            <a:srgbClr val="2E4DA3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0" y="3438144"/>
            <a:ext cx="3474720" cy="1705356"/>
          </a:xfrm>
          <a:prstGeom prst="rect">
            <a:avLst/>
          </a:prstGeom>
          <a:solidFill>
            <a:srgbClr val="1A1F5E"/>
          </a:solidFill>
          <a:ln/>
        </p:spPr>
      </p:sp>
      <p:sp>
        <p:nvSpPr>
          <p:cNvPr id="6" name="Shape 4"/>
          <p:cNvSpPr/>
          <p:nvPr/>
        </p:nvSpPr>
        <p:spPr>
          <a:xfrm>
            <a:off x="5852160" y="0"/>
            <a:ext cx="164592" cy="5143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92240" y="0"/>
            <a:ext cx="164592" cy="5143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32320" y="0"/>
            <a:ext cx="164592" cy="5143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0"/>
            <a:ext cx="164592" cy="5143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0"/>
            <a:ext cx="5669280" cy="9144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8288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899CC"/>
                </a:solidFill>
              </a:rPr>
              <a:t>CONFIDENTIAL  |  FOR INTERNAL USE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20040" y="502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600"/>
                </a:solidFill>
              </a:rPr>
              <a:t>BI Agent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" y="100584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Business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Intelligence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Analysis Report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320040" y="3154680"/>
            <a:ext cx="1645920" cy="4572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3291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TT Company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0040" y="3794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CC"/>
                </a:solidFill>
              </a:rPr>
              <a:t>04 Mar 2026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4206240"/>
            <a:ext cx="228600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AE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206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EAB"/>
                </a:solidFill>
              </a:rPr>
              <a:t>Quality Score: 92/100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0" y="7315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AI DECISION</a:t>
            </a:r>
            <a:endParaRPr lang="en-US" sz="2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INTELLIGENCE</a:t>
            </a:r>
            <a:endParaRPr lang="en-US" sz="2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PLATFORM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943600" y="34747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CCDDFF"/>
                </a:solidFill>
              </a:rPr>
              <a:t>Automated Analysis  •  Executive Insights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CCDDFF"/>
                </a:solidFill>
              </a:rPr>
              <a:t>Data Quality Monitoring  •  KPI Tracking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A1F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3035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</a:rPr>
              <a:t>EXECUTIVE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CC"/>
                </a:solidFill>
              </a:rPr>
              <a:t>TT Company  |  04 Mar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1A1F5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5029200"/>
            <a:ext cx="11887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FFE600"/>
                </a:solidFill>
              </a:rPr>
              <a:t>Page 2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182880" y="685800"/>
            <a:ext cx="2834640" cy="2423160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685800"/>
            <a:ext cx="2834640" cy="47548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" y="685800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</a:rPr>
              <a:t>CHALLENGE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" y="1234440"/>
            <a:ext cx="26151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Data scattered across multiple sources. Manual reporting takes hours daily and lacks real-time visibility into key performance metrics.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72968" y="685800"/>
            <a:ext cx="2834640" cy="2423160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72968" y="685800"/>
            <a:ext cx="2834640" cy="475488"/>
          </a:xfrm>
          <a:prstGeom prst="rect">
            <a:avLst/>
          </a:prstGeom>
          <a:solidFill>
            <a:srgbClr val="2E4DA3"/>
          </a:solidFill>
          <a:ln/>
        </p:spPr>
      </p:sp>
      <p:sp>
        <p:nvSpPr>
          <p:cNvPr id="14" name="Text 12"/>
          <p:cNvSpPr/>
          <p:nvPr/>
        </p:nvSpPr>
        <p:spPr>
          <a:xfrm>
            <a:off x="3282696" y="685800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</a:rPr>
              <a:t>SOLUTION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82696" y="1234440"/>
            <a:ext cx="26151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TT Company recorded strong Q1 2024 performance with total revenue of 55,700. Product A leads with 38,000 in revenue. North region dominates with 110 units sold. Average revenue per transaction is 11,140. Data quality is excellent with only 1 missing value detected.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63056" y="685800"/>
            <a:ext cx="2834640" cy="2423160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63056" y="685800"/>
            <a:ext cx="2834640" cy="475488"/>
          </a:xfrm>
          <a:prstGeom prst="rect">
            <a:avLst/>
          </a:prstGeom>
          <a:solidFill>
            <a:srgbClr val="00AEAB"/>
          </a:solidFill>
          <a:ln/>
        </p:spPr>
      </p:sp>
      <p:sp>
        <p:nvSpPr>
          <p:cNvPr id="18" name="Text 16"/>
          <p:cNvSpPr/>
          <p:nvPr/>
        </p:nvSpPr>
        <p:spPr>
          <a:xfrm>
            <a:off x="6272784" y="685800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</a:rPr>
              <a:t>OUTCOME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72784" y="1234440"/>
            <a:ext cx="26151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92% data quality score achieved. 148 clean records analyzed from 150 total. Key insights generated automatically with action-ready recommendations.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" y="3291840"/>
            <a:ext cx="135331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3291840"/>
            <a:ext cx="1353312" cy="54864"/>
          </a:xfrm>
          <a:prstGeom prst="rect">
            <a:avLst/>
          </a:prstGeom>
          <a:solidFill>
            <a:srgbClr val="1A1F5E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3383280"/>
            <a:ext cx="13533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F5E"/>
                </a:solidFill>
              </a:rPr>
              <a:t>150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28600" y="416052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spc="50" kern="0" dirty="0">
                <a:solidFill>
                  <a:srgbClr val="6B7280"/>
                </a:solidFill>
              </a:rPr>
              <a:t>TOTAL RECORDS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645920" y="3291840"/>
            <a:ext cx="135331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645920" y="3291840"/>
            <a:ext cx="1353312" cy="54864"/>
          </a:xfrm>
          <a:prstGeom prst="rect">
            <a:avLst/>
          </a:prstGeom>
          <a:solidFill>
            <a:srgbClr val="00AEAB"/>
          </a:solidFill>
          <a:ln/>
        </p:spPr>
      </p:sp>
      <p:sp>
        <p:nvSpPr>
          <p:cNvPr id="26" name="Text 24"/>
          <p:cNvSpPr/>
          <p:nvPr/>
        </p:nvSpPr>
        <p:spPr>
          <a:xfrm>
            <a:off x="1645920" y="3383280"/>
            <a:ext cx="13533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EAB"/>
                </a:solidFill>
              </a:rPr>
              <a:t>148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691640" y="416052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spc="50" kern="0" dirty="0">
                <a:solidFill>
                  <a:srgbClr val="6B7280"/>
                </a:solidFill>
              </a:rPr>
              <a:t>CLEAN RECORDS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108960" y="3291840"/>
            <a:ext cx="135331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0" y="3291840"/>
            <a:ext cx="1353312" cy="54864"/>
          </a:xfrm>
          <a:prstGeom prst="rect">
            <a:avLst/>
          </a:prstGeom>
          <a:solidFill>
            <a:srgbClr val="2E4DA3"/>
          </a:solidFill>
          <a:ln/>
        </p:spPr>
      </p:sp>
      <p:sp>
        <p:nvSpPr>
          <p:cNvPr id="30" name="Text 28"/>
          <p:cNvSpPr/>
          <p:nvPr/>
        </p:nvSpPr>
        <p:spPr>
          <a:xfrm>
            <a:off x="3108960" y="3383280"/>
            <a:ext cx="13533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4DA3"/>
                </a:solidFill>
              </a:rPr>
              <a:t>5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3154680" y="416052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spc="50" kern="0" dirty="0">
                <a:solidFill>
                  <a:srgbClr val="6B7280"/>
                </a:solidFill>
              </a:rPr>
              <a:t>DATA COLUMNS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572000" y="3291840"/>
            <a:ext cx="135331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0" y="3291840"/>
            <a:ext cx="1353312" cy="54864"/>
          </a:xfrm>
          <a:prstGeom prst="rect">
            <a:avLst/>
          </a:prstGeom>
          <a:solidFill>
            <a:srgbClr val="00AEAB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0" y="3383280"/>
            <a:ext cx="13533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EAB"/>
                </a:solidFill>
              </a:rPr>
              <a:t>92%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4617720" y="416052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spc="50" kern="0" dirty="0">
                <a:solidFill>
                  <a:srgbClr val="6B7280"/>
                </a:solidFill>
              </a:rPr>
              <a:t>QUALITY SCORE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035040" y="3291840"/>
            <a:ext cx="135331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5040" y="3291840"/>
            <a:ext cx="1353312" cy="54864"/>
          </a:xfrm>
          <a:prstGeom prst="rect">
            <a:avLst/>
          </a:prstGeom>
          <a:solidFill>
            <a:srgbClr val="1A1F5E"/>
          </a:solidFill>
          <a:ln/>
        </p:spPr>
      </p:sp>
      <p:sp>
        <p:nvSpPr>
          <p:cNvPr id="38" name="Text 36"/>
          <p:cNvSpPr/>
          <p:nvPr/>
        </p:nvSpPr>
        <p:spPr>
          <a:xfrm>
            <a:off x="6035040" y="3383280"/>
            <a:ext cx="13533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F5E"/>
                </a:solidFill>
              </a:rPr>
              <a:t>3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080760" y="416052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spc="50" kern="0" dirty="0">
                <a:solidFill>
                  <a:srgbClr val="6B7280"/>
                </a:solidFill>
              </a:rPr>
              <a:t>KEY INSIGHTS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498080" y="3291840"/>
            <a:ext cx="135331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498080" y="3291840"/>
            <a:ext cx="1353312" cy="54864"/>
          </a:xfrm>
          <a:prstGeom prst="rect">
            <a:avLst/>
          </a:prstGeom>
          <a:solidFill>
            <a:srgbClr val="00AEAB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0" y="3383280"/>
            <a:ext cx="13533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EAB"/>
                </a:solidFill>
              </a:rPr>
              <a:t>3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7543800" y="416052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spc="50" kern="0" dirty="0">
                <a:solidFill>
                  <a:srgbClr val="6B7280"/>
                </a:solidFill>
              </a:rPr>
              <a:t>RECOMMENDATIONS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A1F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3035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</a:rPr>
              <a:t>KPI PERFORMANCE DASHBOARD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CC"/>
                </a:solidFill>
              </a:rPr>
              <a:t>TT Company  |  04 Mar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1A1F5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5029200"/>
            <a:ext cx="11887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FFE600"/>
                </a:solidFill>
              </a:rPr>
              <a:t>Page 3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0" y="548640"/>
            <a:ext cx="9144000" cy="1325880"/>
          </a:xfrm>
          <a:prstGeom prst="rect">
            <a:avLst/>
          </a:prstGeom>
          <a:solidFill>
            <a:srgbClr val="1A1F5E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" y="621792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E600"/>
                </a:solidFill>
              </a:rPr>
              <a:t>150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" y="126187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ABBDD"/>
                </a:solidFill>
              </a:rPr>
              <a:t>Total Records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211580" y="658368"/>
            <a:ext cx="18288" cy="1097280"/>
          </a:xfrm>
          <a:prstGeom prst="rect">
            <a:avLst/>
          </a:prstGeom>
          <a:solidFill>
            <a:srgbClr val="3344AA"/>
          </a:solidFill>
          <a:ln/>
        </p:spPr>
      </p:sp>
      <p:sp>
        <p:nvSpPr>
          <p:cNvPr id="12" name="Text 10"/>
          <p:cNvSpPr/>
          <p:nvPr/>
        </p:nvSpPr>
        <p:spPr>
          <a:xfrm>
            <a:off x="1248156" y="621792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E600"/>
                </a:solidFill>
              </a:rPr>
              <a:t>148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48156" y="126187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ABBDD"/>
                </a:solidFill>
              </a:rPr>
              <a:t>Clean Records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322576" y="658368"/>
            <a:ext cx="18288" cy="1097280"/>
          </a:xfrm>
          <a:prstGeom prst="rect">
            <a:avLst/>
          </a:prstGeom>
          <a:solidFill>
            <a:srgbClr val="3344AA"/>
          </a:solidFill>
          <a:ln/>
        </p:spPr>
      </p:sp>
      <p:sp>
        <p:nvSpPr>
          <p:cNvPr id="15" name="Text 13"/>
          <p:cNvSpPr/>
          <p:nvPr/>
        </p:nvSpPr>
        <p:spPr>
          <a:xfrm>
            <a:off x="2359152" y="621792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E600"/>
                </a:solidFill>
              </a:rPr>
              <a:t>92%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359152" y="126187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ABBDD"/>
                </a:solidFill>
              </a:rPr>
              <a:t>Quality Score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433572" y="658368"/>
            <a:ext cx="18288" cy="1097280"/>
          </a:xfrm>
          <a:prstGeom prst="rect">
            <a:avLst/>
          </a:prstGeom>
          <a:solidFill>
            <a:srgbClr val="3344AA"/>
          </a:solidFill>
          <a:ln/>
        </p:spPr>
      </p:sp>
      <p:sp>
        <p:nvSpPr>
          <p:cNvPr id="18" name="Text 16"/>
          <p:cNvSpPr/>
          <p:nvPr/>
        </p:nvSpPr>
        <p:spPr>
          <a:xfrm>
            <a:off x="3470148" y="621792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E600"/>
                </a:solidFill>
              </a:rPr>
              <a:t>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470148" y="126187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ABBDD"/>
                </a:solidFill>
              </a:rPr>
              <a:t>Columns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44568" y="658368"/>
            <a:ext cx="18288" cy="1097280"/>
          </a:xfrm>
          <a:prstGeom prst="rect">
            <a:avLst/>
          </a:prstGeom>
          <a:solidFill>
            <a:srgbClr val="3344AA"/>
          </a:solidFill>
          <a:ln/>
        </p:spPr>
      </p:sp>
      <p:sp>
        <p:nvSpPr>
          <p:cNvPr id="21" name="Text 19"/>
          <p:cNvSpPr/>
          <p:nvPr/>
        </p:nvSpPr>
        <p:spPr>
          <a:xfrm>
            <a:off x="4581144" y="621792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E600"/>
                </a:solidFill>
              </a:rPr>
              <a:t>11,140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81144" y="126187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ABBDD"/>
                </a:solidFill>
              </a:rPr>
              <a:t>Avg revenue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655564" y="658368"/>
            <a:ext cx="18288" cy="1097280"/>
          </a:xfrm>
          <a:prstGeom prst="rect">
            <a:avLst/>
          </a:prstGeom>
          <a:solidFill>
            <a:srgbClr val="3344AA"/>
          </a:solidFill>
          <a:ln/>
        </p:spPr>
      </p:sp>
      <p:sp>
        <p:nvSpPr>
          <p:cNvPr id="24" name="Text 22"/>
          <p:cNvSpPr/>
          <p:nvPr/>
        </p:nvSpPr>
        <p:spPr>
          <a:xfrm>
            <a:off x="5692140" y="621792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E600"/>
                </a:solidFill>
              </a:rPr>
              <a:t>40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692140" y="126187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ABBDD"/>
                </a:solidFill>
              </a:rPr>
              <a:t>Avg quantity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64592" y="2011680"/>
            <a:ext cx="27432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64592" y="2011680"/>
            <a:ext cx="2743200" cy="54864"/>
          </a:xfrm>
          <a:prstGeom prst="rect">
            <a:avLst/>
          </a:prstGeom>
          <a:solidFill>
            <a:srgbClr val="00AEAB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2103120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B7280"/>
                </a:solidFill>
              </a:rPr>
              <a:t>REVENUE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4320" y="2331720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EAB"/>
                </a:solidFill>
              </a:rPr>
              <a:t>11,140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274320" y="2770632"/>
            <a:ext cx="252374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spc="100" kern="0" dirty="0">
                <a:solidFill>
                  <a:srgbClr val="6B7280"/>
                </a:solidFill>
              </a:rPr>
              <a:t>AVERAGE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274320" y="2944368"/>
            <a:ext cx="1207008" cy="292608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2944368"/>
            <a:ext cx="1207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MIN  8,500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591056" y="2944368"/>
            <a:ext cx="1207008" cy="292608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91056" y="2944368"/>
            <a:ext cx="1207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EAB"/>
                </a:solidFill>
              </a:rPr>
              <a:t>MAX  15,000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118104" y="2011680"/>
            <a:ext cx="27432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118104" y="2011680"/>
            <a:ext cx="2743200" cy="54864"/>
          </a:xfrm>
          <a:prstGeom prst="rect">
            <a:avLst/>
          </a:prstGeom>
          <a:solidFill>
            <a:srgbClr val="2E4DA3"/>
          </a:solidFill>
          <a:ln/>
        </p:spPr>
      </p:sp>
      <p:sp>
        <p:nvSpPr>
          <p:cNvPr id="37" name="Text 35"/>
          <p:cNvSpPr/>
          <p:nvPr/>
        </p:nvSpPr>
        <p:spPr>
          <a:xfrm>
            <a:off x="3227832" y="2103120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B7280"/>
                </a:solidFill>
              </a:rPr>
              <a:t>QUANTITY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227832" y="2331720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4DA3"/>
                </a:solidFill>
              </a:rPr>
              <a:t>40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3227832" y="2770632"/>
            <a:ext cx="252374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spc="100" kern="0" dirty="0">
                <a:solidFill>
                  <a:srgbClr val="6B7280"/>
                </a:solidFill>
              </a:rPr>
              <a:t>AVERAGE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3227832" y="2944368"/>
            <a:ext cx="1207008" cy="292608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27832" y="2944368"/>
            <a:ext cx="1207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MIN  20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44568" y="2944368"/>
            <a:ext cx="1207008" cy="292608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44568" y="2944368"/>
            <a:ext cx="1207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EAB"/>
                </a:solidFill>
              </a:rPr>
              <a:t>MAX  60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A1F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3035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</a:rPr>
              <a:t>PERFORMANCE ANALYSIS — SEGMENT BREAKDOWN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CC"/>
                </a:solidFill>
              </a:rPr>
              <a:t>TT Company  |  04 Mar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1A1F5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5029200"/>
            <a:ext cx="11887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FFE600"/>
                </a:solidFill>
              </a:rPr>
              <a:t>Page 4</a:t>
            </a:r>
            <a:endParaRPr lang="en-US" sz="6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182880" y="658368"/>
          <a:ext cx="53035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5623560" y="658368"/>
          <a:ext cx="33375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5623560" y="3291840"/>
            <a:ext cx="3337560" cy="256032"/>
          </a:xfrm>
          <a:prstGeom prst="rect">
            <a:avLst/>
          </a:prstGeom>
          <a:solidFill>
            <a:srgbClr val="1A1F5E"/>
          </a:solidFill>
          <a:ln/>
        </p:spPr>
      </p:sp>
      <p:sp>
        <p:nvSpPr>
          <p:cNvPr id="11" name="Text 7"/>
          <p:cNvSpPr/>
          <p:nvPr/>
        </p:nvSpPr>
        <p:spPr>
          <a:xfrm>
            <a:off x="5623560" y="3291840"/>
            <a:ext cx="3337560" cy="2560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FE600"/>
                </a:solidFill>
              </a:rPr>
              <a:t>KEY FINDINGS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5623560" y="3621024"/>
            <a:ext cx="3337560" cy="530352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623560" y="3621024"/>
            <a:ext cx="54864" cy="530352"/>
          </a:xfrm>
          <a:prstGeom prst="rect">
            <a:avLst/>
          </a:prstGeom>
          <a:solidFill>
            <a:srgbClr val="00AEAB"/>
          </a:solidFill>
          <a:ln/>
        </p:spPr>
      </p:sp>
      <p:sp>
        <p:nvSpPr>
          <p:cNvPr id="14" name="Text 10"/>
          <p:cNvSpPr/>
          <p:nvPr/>
        </p:nvSpPr>
        <p:spPr>
          <a:xfrm>
            <a:off x="5742432" y="36576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F2937"/>
                </a:solidFill>
              </a:rPr>
              <a:t>1. Product A generates 68% of total revenue — critical revenue driver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5623560" y="4215384"/>
            <a:ext cx="3337560" cy="530352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623560" y="4215384"/>
            <a:ext cx="54864" cy="530352"/>
          </a:xfrm>
          <a:prstGeom prst="rect">
            <a:avLst/>
          </a:prstGeom>
          <a:solidFill>
            <a:srgbClr val="00AEAB"/>
          </a:solidFill>
          <a:ln/>
        </p:spPr>
      </p:sp>
      <p:sp>
        <p:nvSpPr>
          <p:cNvPr id="17" name="Text 13"/>
          <p:cNvSpPr/>
          <p:nvPr/>
        </p:nvSpPr>
        <p:spPr>
          <a:xfrm>
            <a:off x="5742432" y="42519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F2937"/>
                </a:solidFill>
              </a:rPr>
              <a:t>2. North region leads with 110 units sold, 2x higher than East region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5623560" y="4809744"/>
            <a:ext cx="3337560" cy="530352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623560" y="4809744"/>
            <a:ext cx="54864" cy="530352"/>
          </a:xfrm>
          <a:prstGeom prst="rect">
            <a:avLst/>
          </a:prstGeom>
          <a:solidFill>
            <a:srgbClr val="00AEAB"/>
          </a:solidFill>
          <a:ln/>
        </p:spPr>
      </p:sp>
      <p:sp>
        <p:nvSpPr>
          <p:cNvPr id="20" name="Text 16"/>
          <p:cNvSpPr/>
          <p:nvPr/>
        </p:nvSpPr>
        <p:spPr>
          <a:xfrm>
            <a:off x="5742432" y="48463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F2937"/>
                </a:solidFill>
              </a:rPr>
              <a:t>3. Average transaction value of 11,140 is consistent across all regions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A1F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3035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</a:rPr>
              <a:t>TREND ANALYSIS &amp; DATA PREVIEW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CC"/>
                </a:solidFill>
              </a:rPr>
              <a:t>TT Company  |  04 Mar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1A1F5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5029200"/>
            <a:ext cx="11887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FFE600"/>
                </a:solidFill>
              </a:rPr>
              <a:t>Page 5</a:t>
            </a:r>
            <a:endParaRPr lang="en-US" sz="6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182880" y="658368"/>
          <a:ext cx="877824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182880" y="3200400"/>
            <a:ext cx="8778240" cy="274320"/>
          </a:xfrm>
          <a:prstGeom prst="rect">
            <a:avLst/>
          </a:prstGeom>
          <a:solidFill>
            <a:srgbClr val="1A1F5E"/>
          </a:solidFill>
          <a:ln/>
        </p:spPr>
      </p:sp>
      <p:sp>
        <p:nvSpPr>
          <p:cNvPr id="10" name="Text 7"/>
          <p:cNvSpPr/>
          <p:nvPr/>
        </p:nvSpPr>
        <p:spPr>
          <a:xfrm>
            <a:off x="182880" y="3200400"/>
            <a:ext cx="8778240" cy="2743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E600"/>
                </a:solidFill>
              </a:rPr>
              <a:t>NUMERIC COLUMN STATISTICS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3493008"/>
          <a:ext cx="8778240" cy="141732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463040"/>
                <a:gridCol w="1463040"/>
                <a:gridCol w="1463040"/>
                <a:gridCol w="146304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D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Mean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D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Min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D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Max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D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D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Quality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DA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revenue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F5E"/>
                          </a:solidFill>
                        </a:rPr>
                        <a:t>11,140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</a:rPr>
                        <a:t>8,500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</a:rPr>
                        <a:t>15,000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A580C"/>
                          </a:solidFill>
                        </a:rPr>
                        <a:t>59%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quantity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F5E"/>
                          </a:solidFill>
                        </a:rPr>
                        <a:t>40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</a:rPr>
                        <a:t>20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</a:rPr>
                        <a:t>60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A580C"/>
                          </a:solidFill>
                        </a:rPr>
                        <a:t>50%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A1F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3035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</a:rPr>
              <a:t>FINDINGS, ANOMALIES &amp; RECOMMENDATIONS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CC"/>
                </a:solidFill>
              </a:rPr>
              <a:t>TT Company  |  04 Mar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1A1F5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5029200"/>
            <a:ext cx="11887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FFE600"/>
                </a:solidFill>
              </a:rPr>
              <a:t>Page 6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182880" y="658368"/>
            <a:ext cx="8778240" cy="29260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9" name="Shape 7"/>
          <p:cNvSpPr/>
          <p:nvPr/>
        </p:nvSpPr>
        <p:spPr>
          <a:xfrm>
            <a:off x="182880" y="658368"/>
            <a:ext cx="36576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" y="658368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C2626"/>
                </a:solidFill>
              </a:rPr>
              <a:t>  ANOMALIES &amp; DATA QUALITY ISSUES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1005840"/>
            <a:ext cx="2761488" cy="960120"/>
          </a:xfrm>
          <a:prstGeom prst="rect">
            <a:avLst/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005840"/>
            <a:ext cx="2761488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1188720"/>
            <a:ext cx="256032" cy="25603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1887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!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1097280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BE123C"/>
                </a:solidFill>
              </a:rPr>
              <a:t>Revenue column had 1 missing value, imputed with mean 11,140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2148840"/>
            <a:ext cx="8778240" cy="29260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7" name="Shape 15"/>
          <p:cNvSpPr/>
          <p:nvPr/>
        </p:nvSpPr>
        <p:spPr>
          <a:xfrm>
            <a:off x="182880" y="2148840"/>
            <a:ext cx="36576" cy="292608"/>
          </a:xfrm>
          <a:prstGeom prst="rect">
            <a:avLst/>
          </a:prstGeom>
          <a:solidFill>
            <a:srgbClr val="00AEAB"/>
          </a:solidFill>
          <a:ln/>
        </p:spPr>
      </p:sp>
      <p:sp>
        <p:nvSpPr>
          <p:cNvPr id="18" name="Text 16"/>
          <p:cNvSpPr/>
          <p:nvPr/>
        </p:nvSpPr>
        <p:spPr>
          <a:xfrm>
            <a:off x="182880" y="2148840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AEAB"/>
                </a:solidFill>
              </a:rPr>
              <a:t>  RECOMMENDATIONS &amp; NEXT STEPS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" y="2514600"/>
            <a:ext cx="2816352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2514600"/>
            <a:ext cx="2816352" cy="64008"/>
          </a:xfrm>
          <a:prstGeom prst="rect">
            <a:avLst/>
          </a:prstGeom>
          <a:solidFill>
            <a:srgbClr val="00AEAB"/>
          </a:solidFill>
          <a:ln/>
        </p:spPr>
      </p:sp>
      <p:sp>
        <p:nvSpPr>
          <p:cNvPr id="21" name="Shape 19"/>
          <p:cNvSpPr/>
          <p:nvPr/>
        </p:nvSpPr>
        <p:spPr>
          <a:xfrm>
            <a:off x="292608" y="2679192"/>
            <a:ext cx="384048" cy="384048"/>
          </a:xfrm>
          <a:prstGeom prst="ellipse">
            <a:avLst/>
          </a:prstGeom>
          <a:solidFill>
            <a:srgbClr val="1A1F5E"/>
          </a:solidFill>
          <a:ln/>
        </p:spPr>
      </p:sp>
      <p:sp>
        <p:nvSpPr>
          <p:cNvPr id="22" name="Text 20"/>
          <p:cNvSpPr/>
          <p:nvPr/>
        </p:nvSpPr>
        <p:spPr>
          <a:xfrm>
            <a:off x="292608" y="2679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" y="3172968"/>
            <a:ext cx="259689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Expand Product A production capacity to meet North region demand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36392" y="2514600"/>
            <a:ext cx="2816352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36392" y="2514600"/>
            <a:ext cx="2816352" cy="64008"/>
          </a:xfrm>
          <a:prstGeom prst="rect">
            <a:avLst/>
          </a:prstGeom>
          <a:solidFill>
            <a:srgbClr val="00AEAB"/>
          </a:solidFill>
          <a:ln/>
        </p:spPr>
      </p:sp>
      <p:sp>
        <p:nvSpPr>
          <p:cNvPr id="26" name="Shape 24"/>
          <p:cNvSpPr/>
          <p:nvPr/>
        </p:nvSpPr>
        <p:spPr>
          <a:xfrm>
            <a:off x="3246120" y="2679192"/>
            <a:ext cx="384048" cy="384048"/>
          </a:xfrm>
          <a:prstGeom prst="ellipse">
            <a:avLst/>
          </a:prstGeom>
          <a:solidFill>
            <a:srgbClr val="1A1F5E"/>
          </a:solidFill>
          <a:ln/>
        </p:spPr>
      </p:sp>
      <p:sp>
        <p:nvSpPr>
          <p:cNvPr id="27" name="Text 25"/>
          <p:cNvSpPr/>
          <p:nvPr/>
        </p:nvSpPr>
        <p:spPr>
          <a:xfrm>
            <a:off x="3246120" y="2679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46120" y="3172968"/>
            <a:ext cx="259689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Investigate Product C performance — only 20 units, review pricing strategy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89904" y="2514600"/>
            <a:ext cx="2816352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9904" y="2514600"/>
            <a:ext cx="2816352" cy="64008"/>
          </a:xfrm>
          <a:prstGeom prst="rect">
            <a:avLst/>
          </a:prstGeom>
          <a:solidFill>
            <a:srgbClr val="00AEAB"/>
          </a:solidFill>
          <a:ln/>
        </p:spPr>
      </p:sp>
      <p:sp>
        <p:nvSpPr>
          <p:cNvPr id="31" name="Shape 29"/>
          <p:cNvSpPr/>
          <p:nvPr/>
        </p:nvSpPr>
        <p:spPr>
          <a:xfrm>
            <a:off x="6199632" y="2679192"/>
            <a:ext cx="384048" cy="384048"/>
          </a:xfrm>
          <a:prstGeom prst="ellipse">
            <a:avLst/>
          </a:prstGeom>
          <a:solidFill>
            <a:srgbClr val="1A1F5E"/>
          </a:solidFill>
          <a:ln/>
        </p:spPr>
      </p:sp>
      <p:sp>
        <p:nvSpPr>
          <p:cNvPr id="32" name="Text 30"/>
          <p:cNvSpPr/>
          <p:nvPr/>
        </p:nvSpPr>
        <p:spPr>
          <a:xfrm>
            <a:off x="6199632" y="2679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99632" y="3172968"/>
            <a:ext cx="259689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Collect weekly data granularity for better trend analysis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2026-03-04T14:45:01Z</dcterms:created>
  <dcterms:modified xsi:type="dcterms:W3CDTF">2026-03-04T14:45:01Z</dcterms:modified>
</cp:coreProperties>
</file>