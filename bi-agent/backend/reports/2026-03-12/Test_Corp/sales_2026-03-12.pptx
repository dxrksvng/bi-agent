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24200</c:v>
                </c:pt>
                <c:pt idx="1">
                  <c:v>23300</c:v>
                </c:pt>
                <c:pt idx="2">
                  <c:v>10700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15000</c:v>
                </c:pt>
                <c:pt idx="1">
                  <c:v>8500</c:v>
                </c:pt>
                <c:pt idx="2">
                  <c:v>14700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172A"/>
            </a:solidFill>
            <a:ln w="31750" cap="flat">
              <a:solidFill>
                <a:srgbClr val="0F1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172A"/>
              </a:solidFill>
              <a:ln w="9525" cap="flat">
                <a:solidFill>
                  <a:srgbClr val="0F1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 1</c:v>
                  </c:pt>
                  <c:pt idx="1">
                    <c:v>Jan 2</c:v>
                  </c:pt>
                  <c:pt idx="2">
                    <c:v>Jan 3</c:v>
                  </c:pt>
                  <c:pt idx="3">
                    <c:v>Jan 4</c:v>
                  </c:pt>
                  <c:pt idx="4">
                    <c:v>Jan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12000</c:v>
                </c:pt>
                <c:pt idx="1">
                  <c:v>8500</c:v>
                </c:pt>
                <c:pt idx="2">
                  <c:v>15000</c:v>
                </c:pt>
                <c:pt idx="3">
                  <c:v>11500</c:v>
                </c:pt>
                <c:pt idx="4">
                  <c:v>11200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R1: Product B
Pricing</c:v>
                  </c:pt>
                  <c:pt idx="1">
                    <c:v>R2: East
Activation</c:v>
                  </c:pt>
                  <c:pt idx="2">
                    <c:v>R3: Product A
Scale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2.8</c:v>
                </c:pt>
                <c:pt idx="2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76072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50" kern="0" dirty="0">
                <a:solidFill>
                  <a:srgbClr val="22D3EE"/>
                </a:solidFill>
              </a:rPr>
              <a:t>MY COMPANY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 A Leads Revenue, but East Region Gap Creates a $13.5K Recovery Opportunity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5029200" cy="43891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+$13.5K revenue opportunity identified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My Company  ·  Confidential  ·  BI Agent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0" y="457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75569"/>
                </a:solidFill>
              </a:rPr>
              <a:t>BUSINESS INTELLIGENCE REPORT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35040" y="713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11 Mar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78992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78992"/>
            <a:ext cx="54864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15214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100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Data Quality  /100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54864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2677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6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798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Records Analyzed 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31012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3310128"/>
            <a:ext cx="54864" cy="9875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383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Columns  fields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Product A Leads Revenue Opportunity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SCR Framework — Situation · Complication · Resolution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688336" cy="2395728"/>
          </a:xfrm>
          <a:prstGeom prst="rect">
            <a:avLst/>
          </a:prstGeom>
          <a:solidFill>
            <a:srgbClr val="EF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99616"/>
            <a:ext cx="2688336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609344"/>
            <a:ext cx="329184" cy="3291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6276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2D3EE"/>
                </a:solidFill>
              </a:rPr>
              <a:t>SITUATION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2064" y="2048256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Acme Corp operates across 3 regions with 6 transactions analyzed over 5 days.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1499616"/>
            <a:ext cx="2688336" cy="23957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1499616"/>
            <a:ext cx="2688336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60934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12464" y="16276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</a:rPr>
              <a:t>COMPLICATION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10128" y="2048256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Product B accounts for a below-average revenue transaction in South. East region contributes only 18.4% vs 41.6% from North.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0176" y="1499616"/>
            <a:ext cx="2688336" cy="239572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1499616"/>
            <a:ext cx="2688336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8192" y="160934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108192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16276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</a:rPr>
              <a:t>RESOLUTION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08192" y="2048256"/>
            <a:ext cx="24323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Targeted East region activation and Product B pricing correction delivers $13.5K upside within 60 days.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40233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75569"/>
                </a:solidFill>
              </a:rPr>
              <a:t>KEY SUPPORTING EVIDENCE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84048" y="4315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Product A: 25.8% revenue share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82112" y="4315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East Region untapped: $13.5K addressable gap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0176" y="43159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6181344" y="42793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Product B pricing correction = $3.8K retained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CURRENT SITUATION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Revenue grew 23% YoY driven by Product 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Key Performance Indicators &amp; Data Overview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6883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99616"/>
            <a:ext cx="45720" cy="7132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$15K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Revenue  avg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499616"/>
            <a:ext cx="26883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99616"/>
            <a:ext cx="45720" cy="7132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</a:rPr>
              <a:t>42.3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46704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Units  avg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0176" y="1499616"/>
            <a:ext cx="268833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499616"/>
            <a:ext cx="4572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5361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0.0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Churn  avg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84048" y="2350008"/>
          <a:ext cx="5376672" cy="21168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669280" y="2350008"/>
            <a:ext cx="2706624" cy="21168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2350008"/>
            <a:ext cx="2706624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5797296" y="2441448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</a:rPr>
              <a:t>KEY TAKEAWAYS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797296" y="2660904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2"/>
          <p:cNvSpPr/>
          <p:nvPr/>
        </p:nvSpPr>
        <p:spPr>
          <a:xfrm>
            <a:off x="5797296" y="284378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5998464" y="2734056"/>
            <a:ext cx="2267712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Revenue grew 23% YoY driven by Product A in North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797296" y="3275076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5"/>
          <p:cNvSpPr/>
          <p:nvPr/>
        </p:nvSpPr>
        <p:spPr>
          <a:xfrm>
            <a:off x="5797296" y="34213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6"/>
          <p:cNvSpPr/>
          <p:nvPr/>
        </p:nvSpPr>
        <p:spPr>
          <a:xfrm>
            <a:off x="5998464" y="3311652"/>
            <a:ext cx="2267712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Customer churn rate 0% — retention is industry-leading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797296" y="3852672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8"/>
          <p:cNvSpPr/>
          <p:nvPr/>
        </p:nvSpPr>
        <p:spPr>
          <a:xfrm>
            <a:off x="5797296" y="399897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29"/>
          <p:cNvSpPr/>
          <p:nvPr/>
        </p:nvSpPr>
        <p:spPr>
          <a:xfrm>
            <a:off x="5998464" y="3889248"/>
            <a:ext cx="2267712" cy="52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Operations costs can be reduced 18% through automation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Revenue grew 23% YoY driven by Product 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Revenue grew 23% YoY driven by Product A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84048" y="1243584"/>
          <a:ext cx="5376672" cy="32232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243584"/>
            <a:ext cx="2706624" cy="32232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69280" y="1243584"/>
            <a:ext cx="2706624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5797296" y="1335024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</a:rPr>
              <a:t>CRITICAL FINDINGS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797296" y="1554480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9"/>
          <p:cNvSpPr/>
          <p:nvPr/>
        </p:nvSpPr>
        <p:spPr>
          <a:xfrm>
            <a:off x="5797296" y="173736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5998464" y="1627632"/>
            <a:ext cx="226771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Product A generates 25.8% of revenue at highest transaction value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97296" y="2537460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5797296" y="268376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5998464" y="2574036"/>
            <a:ext cx="226771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East Region delivers only 18.4% of revenue — 23pts below North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797296" y="3483864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97296" y="363016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5998464" y="3520440"/>
            <a:ext cx="2267712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Product B South anomaly: $8,500 is 32% below average transaction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Expand Product A distribution to East and South markets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ROOT CAUSE ANALYSIS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F172A"/>
                </a:solidFill>
              </a:rPr>
              <a:t>Product B South sales dropped 32% below forecast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Anomaly Deep-Dive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84048" y="1463040"/>
          <a:ext cx="5376672" cy="30038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463040"/>
            <a:ext cx="2706624" cy="30038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463040"/>
            <a:ext cx="2706624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797296" y="15544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</a:rPr>
              <a:t>ANOMALIES DETECTED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97296" y="1773936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97296" y="195681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998464" y="1847088"/>
            <a:ext cx="2267712" cy="125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Q3 equivalent: Product B South $8,500 — 32% below $11,140 average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97296" y="3120390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5797296" y="326669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998464" y="3156966"/>
            <a:ext cx="2267712" cy="1255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Region 3 (East) shows 2.4x lower revenue vs North benchmark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2 anomalies identified — root cause investigation required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OPPORTUNITY &amp; IMPACT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+$13.5K revenue opportunity identified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Business Value Assessment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99616"/>
            <a:ext cx="268833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499616"/>
            <a:ext cx="268833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627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Activate East Region by Q2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1499616"/>
            <a:ext cx="268833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499616"/>
            <a:ext cx="2688336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627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Fix Product B South pricing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0176" y="1499616"/>
            <a:ext cx="268833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1499616"/>
            <a:ext cx="2688336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6276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08192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</a:rPr>
              <a:t>Scale Product A's North playbook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4279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" y="42245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+$13.5K revenue in 60 days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82112" y="4279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2245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$3.8K margin recovery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0176" y="4279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42245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+18% margin improvement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My Company: +$13.5K revenue in 90 days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STRATEGIC RECOMMENDATIONS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Three Priority Actions Required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Prioritized by Impact × Feasibility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84048" y="1463040"/>
          <a:ext cx="5376672" cy="30038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463040"/>
            <a:ext cx="2706624" cy="30038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463040"/>
            <a:ext cx="2706624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5797296" y="15544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</a:rPr>
              <a:t>PRIORITY ACTIONS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97296" y="1773936"/>
            <a:ext cx="245059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97296" y="195681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5998464" y="1847088"/>
            <a:ext cx="2267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Expand Product A distribution to East and South regions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97296" y="2683764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5797296" y="283006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998464" y="2720340"/>
            <a:ext cx="2267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Launch retention audit for Product B — resolve pricing anomaly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97296" y="3557016"/>
            <a:ext cx="245059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6"/>
          <p:cNvSpPr/>
          <p:nvPr/>
        </p:nvSpPr>
        <p:spPr>
          <a:xfrm>
            <a:off x="5797296" y="3703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0" name="Text 17"/>
          <p:cNvSpPr/>
          <p:nvPr/>
        </p:nvSpPr>
        <p:spPr>
          <a:xfrm>
            <a:off x="5998464" y="3593592"/>
            <a:ext cx="2267712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Automate revenue monitoring — prevent future anomaly delay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Executive sign-off required within 2 weeks to capture full value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IMPLEMENTATION ROADMAP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My Company  ·  Confidential  ·  11 Mar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84048" y="493776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</a:rPr>
              <a:t>90-Day Action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84048" y="11521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Phase-by-Phase Delivery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2688336" cy="40233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46304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865376"/>
            <a:ext cx="2688336" cy="2601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048256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1956816"/>
            <a:ext cx="2231136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Audit Product B South pricing — 30 days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1463040"/>
            <a:ext cx="2688336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46304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60 DAYS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865376"/>
            <a:ext cx="2688336" cy="2601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048256"/>
            <a:ext cx="128016" cy="12801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1956816"/>
            <a:ext cx="2231136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Roll out East region activation campaign — 45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0176" y="1463040"/>
            <a:ext cx="2688336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146304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90 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0176" y="1865376"/>
            <a:ext cx="2688336" cy="26014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04825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956816"/>
            <a:ext cx="2231136" cy="23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</a:rPr>
              <a:t>Full Product A scale across all regions — 90 days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4521708"/>
            <a:ext cx="54864" cy="32918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4521708"/>
            <a:ext cx="8211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▶  EXPECTED OUTCOME:  +$13.5K revenue in 90 days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9423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BI Agent  ·  Auto-generated Analysis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49423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375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22D3EE"/>
                </a:solidFill>
              </a:rPr>
              <a:t>EXPECTED IMPACT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3759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 A Leads Revenue, but East Region Gap Creates a $13.5K Recovery Opportunity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554480"/>
            <a:ext cx="2688336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54480"/>
            <a:ext cx="45720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645920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13.5K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93776" y="25237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+$ revenue opportunity in 60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82112" y="1554480"/>
            <a:ext cx="2688336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1554480"/>
            <a:ext cx="457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45920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18%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25237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cost reduction via automation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554480"/>
            <a:ext cx="2688336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0176" y="1554480"/>
            <a:ext cx="45720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089904" y="1645920"/>
            <a:ext cx="24505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</a:rPr>
              <a:t>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089904" y="252374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current data quality issues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310128"/>
            <a:ext cx="8375904" cy="4937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3310128"/>
            <a:ext cx="8119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NEXT STEP: Schedule executive review session to approve implementation roadmap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494233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My Company  ·  Confidential  ·  BI Agent  ·  11 Mar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Company — Business Intelligence Report</dc:title>
  <dc:subject>PptxGenJS Presentation</dc:subject>
  <dc:creator>BI Agent</dc:creator>
  <cp:lastModifiedBy>BI Agent</cp:lastModifiedBy>
  <cp:revision>1</cp:revision>
  <dcterms:created xsi:type="dcterms:W3CDTF">2026-03-11T17:23:47Z</dcterms:created>
  <dcterms:modified xsi:type="dcterms:W3CDTF">2026-03-11T17:23:47Z</dcterms:modified>
</cp:coreProperties>
</file>